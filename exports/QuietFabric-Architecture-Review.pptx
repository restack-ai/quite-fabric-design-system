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852464"/>
            <a:ext cx="84764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INFRASTRUCTURE · ARCHITECTURE REVIEW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2452539"/>
            <a:ext cx="8476488" cy="3069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800" b="1" spc="-262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fabric beneath intelligent systems.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5826621"/>
            <a:ext cx="7480697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calm, end-to-end review of the QuietFabric platform: topology, performance, reliability, and the proposal for the next phase.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7777163"/>
            <a:ext cx="22708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FY26 · Q2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8139112"/>
            <a:ext cx="22708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quarterly review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18620" y="7777163"/>
            <a:ext cx="16588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 Eng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718620" y="8139112"/>
            <a:ext cx="15850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prepared by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82258" y="7777163"/>
            <a:ext cx="15793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Confidential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682258" y="8139112"/>
            <a:ext cx="117351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internal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34600" y="2339280"/>
            <a:ext cx="7010400" cy="5608290"/>
          </a:xfrm>
          <a:prstGeom prst="roundRect">
            <a:avLst>
              <a:gd name="adj" fmla="val 3057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4125" y="2348805"/>
            <a:ext cx="6991350" cy="5589240"/>
          </a:xfrm>
          <a:prstGeom prst="rect">
            <a:avLst/>
          </a:prstGeom>
          <a:solidFill>
            <a:srgbClr val="222A3A">
              <a:alpha val="50000"/>
            </a:srgbClr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4125" y="2348805"/>
            <a:ext cx="6991350" cy="55892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448925" y="7376071"/>
            <a:ext cx="36732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fabric.route </a:t>
            </a:r>
            <a:pPr algn="l" indent="0" marL="0">
              <a:buNone/>
            </a:pPr>
            <a:r>
              <a:rPr lang="en-US" sz="180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gpu-east-03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733365" y="7376071"/>
            <a:ext cx="1173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p95 18ms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0364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AGENDA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192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Five things we'll cover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839492"/>
            <a:ext cx="7620000" cy="1133475"/>
          </a:xfrm>
          <a:prstGeom prst="roundRect">
            <a:avLst>
              <a:gd name="adj" fmla="val 11765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7325" y="3139529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82033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0" y="3263354"/>
            <a:ext cx="285750" cy="285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19325" y="3096667"/>
            <a:ext cx="34555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Context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219325" y="3439567"/>
            <a:ext cx="34555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Where the platform stands today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525000" y="2839492"/>
            <a:ext cx="7620000" cy="1133475"/>
          </a:xfrm>
          <a:prstGeom prst="roundRect">
            <a:avLst>
              <a:gd name="adj" fmla="val 11765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39325" y="3139529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82033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63354"/>
            <a:ext cx="285750" cy="2857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01325" y="3096667"/>
            <a:ext cx="32510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Performance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10601325" y="3439567"/>
            <a:ext cx="32510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Latency, throughput, utilization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143000" y="4315867"/>
            <a:ext cx="7620000" cy="1133475"/>
          </a:xfrm>
          <a:prstGeom prst="roundRect">
            <a:avLst>
              <a:gd name="adj" fmla="val 11765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457325" y="4615904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82033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4739729"/>
            <a:ext cx="285750" cy="285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19325" y="4573042"/>
            <a:ext cx="305558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Architecture</a:t>
            </a:r>
            <a:endParaRPr lang="en-US" sz="2250" dirty="0"/>
          </a:p>
        </p:txBody>
      </p:sp>
      <p:sp>
        <p:nvSpPr>
          <p:cNvPr id="19" name="Text 14"/>
          <p:cNvSpPr/>
          <p:nvPr/>
        </p:nvSpPr>
        <p:spPr>
          <a:xfrm>
            <a:off x="2219325" y="4915942"/>
            <a:ext cx="30555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Routes, fabric, model serving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9525000" y="4315867"/>
            <a:ext cx="7620000" cy="1133475"/>
          </a:xfrm>
          <a:prstGeom prst="roundRect">
            <a:avLst>
              <a:gd name="adj" fmla="val 11765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839325" y="4615904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82033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3150" y="4739729"/>
            <a:ext cx="285750" cy="2857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601325" y="4573042"/>
            <a:ext cx="35275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Reliability</a:t>
            </a:r>
            <a:endParaRPr lang="en-US" sz="2250" dirty="0"/>
          </a:p>
        </p:txBody>
      </p:sp>
      <p:sp>
        <p:nvSpPr>
          <p:cNvPr id="24" name="Text 18"/>
          <p:cNvSpPr/>
          <p:nvPr/>
        </p:nvSpPr>
        <p:spPr>
          <a:xfrm>
            <a:off x="10601325" y="4915942"/>
            <a:ext cx="35275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SLOs, error budget, failure modes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1143000" y="5792242"/>
            <a:ext cx="7620000" cy="1133475"/>
          </a:xfrm>
          <a:prstGeom prst="roundRect">
            <a:avLst>
              <a:gd name="adj" fmla="val 11765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457325" y="6092279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82033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6216104"/>
            <a:ext cx="285750" cy="2857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219325" y="6049417"/>
            <a:ext cx="39117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Roadmap</a:t>
            </a:r>
            <a:endParaRPr lang="en-US" sz="2250" dirty="0"/>
          </a:p>
        </p:txBody>
      </p:sp>
      <p:sp>
        <p:nvSpPr>
          <p:cNvPr id="29" name="Text 22"/>
          <p:cNvSpPr/>
          <p:nvPr/>
        </p:nvSpPr>
        <p:spPr>
          <a:xfrm>
            <a:off x="2219325" y="6392317"/>
            <a:ext cx="39117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Capacity plan, cost, recommendation</a:t>
            </a:r>
            <a:endParaRPr lang="en-US" sz="1800" dirty="0"/>
          </a:p>
        </p:txBody>
      </p:sp>
      <p:sp>
        <p:nvSpPr>
          <p:cNvPr id="30" name="Shape 23"/>
          <p:cNvSpPr/>
          <p:nvPr/>
        </p:nvSpPr>
        <p:spPr>
          <a:xfrm>
            <a:off x="9525000" y="5792242"/>
            <a:ext cx="7620000" cy="1133475"/>
          </a:xfrm>
          <a:prstGeom prst="roundRect">
            <a:avLst>
              <a:gd name="adj" fmla="val 11765"/>
            </a:avLst>
          </a:prstGeom>
          <a:solidFill>
            <a:srgbClr val="0D111A">
              <a:alpha val="70000"/>
            </a:srgbClr>
          </a:solidFill>
          <a:ln w="9525">
            <a:solidFill>
              <a:srgbClr val="222A3A">
                <a:alpha val="70000"/>
              </a:srgbClr>
            </a:solidFill>
            <a:prstDash val="dash"/>
          </a:ln>
        </p:spPr>
      </p:sp>
      <p:sp>
        <p:nvSpPr>
          <p:cNvPr id="31" name="Shape 24"/>
          <p:cNvSpPr/>
          <p:nvPr/>
        </p:nvSpPr>
        <p:spPr>
          <a:xfrm>
            <a:off x="9839325" y="6092279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82033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3150" y="6216104"/>
            <a:ext cx="285750" cy="2857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601325" y="6049417"/>
            <a:ext cx="2396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 &amp; A</a:t>
            </a:r>
            <a:endParaRPr lang="en-US" sz="2250" dirty="0"/>
          </a:p>
        </p:txBody>
      </p:sp>
      <p:sp>
        <p:nvSpPr>
          <p:cNvPr id="34" name="Text 26"/>
          <p:cNvSpPr/>
          <p:nvPr/>
        </p:nvSpPr>
        <p:spPr>
          <a:xfrm>
            <a:off x="10601325" y="6392317"/>
            <a:ext cx="23968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Discussion &amp; decisions</a:t>
            </a:r>
            <a:endParaRPr lang="en-US" sz="18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37" name="Text 28"/>
          <p:cNvSpPr/>
          <p:nvPr/>
        </p:nvSpPr>
        <p:spPr>
          <a:xfrm>
            <a:off x="11460361" y="9453563"/>
            <a:ext cx="47916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Infrastructure Architecture Review</a:t>
            </a:r>
            <a:endParaRPr lang="en-US" sz="1650" dirty="0"/>
          </a:p>
        </p:txBody>
      </p:sp>
      <p:sp>
        <p:nvSpPr>
          <p:cNvPr id="38" name="Text 29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23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649861"/>
            <a:ext cx="1648206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15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4345186"/>
            <a:ext cx="16482060" cy="1320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900" b="1" spc="-262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143000" y="5913239"/>
            <a:ext cx="935087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Where the platform stands today — scope, scale, and the systems beneath modern intelligence.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23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23925"/>
            <a:ext cx="28020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EXECUTIVE SUMMARY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4338846" y="914400"/>
            <a:ext cx="2806154" cy="447675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/>
        </p:spPr>
      </p:sp>
      <p:sp>
        <p:nvSpPr>
          <p:cNvPr id="5" name="Shape 3"/>
          <p:cNvSpPr/>
          <p:nvPr/>
        </p:nvSpPr>
        <p:spPr>
          <a:xfrm>
            <a:off x="14519821" y="1095375"/>
            <a:ext cx="85725" cy="85725"/>
          </a:xfrm>
          <a:prstGeom prst="ellipse">
            <a:avLst/>
          </a:prstGeom>
          <a:solidFill>
            <a:srgbClr val="3DDC97"/>
          </a:solidFill>
          <a:ln/>
          <a:effectLst>
            <a:outerShdw sx="100000" sy="100000" kx="0" ky="0" algn="bl" rotWithShape="0" blurRad="85725" dist="50800" dir="16200000">
              <a:srgbClr val="3DDC9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700796" y="1000125"/>
            <a:ext cx="23394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routes healthy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15335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platform is reliable, and approaching capacity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143000" y="2877592"/>
            <a:ext cx="3800475" cy="2019300"/>
          </a:xfrm>
          <a:prstGeom prst="roundRect">
            <a:avLst>
              <a:gd name="adj" fmla="val 660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7325" y="3191917"/>
            <a:ext cx="32669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99.95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457325" y="3934867"/>
            <a:ext cx="32669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route availability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57325" y="4306342"/>
            <a:ext cx="32669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within SLO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10175" y="2877592"/>
            <a:ext cx="3800475" cy="2019300"/>
          </a:xfrm>
          <a:prstGeom prst="roundRect">
            <a:avLst>
              <a:gd name="adj" fmla="val 660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0" y="3191917"/>
            <a:ext cx="32669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ms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524500" y="3934867"/>
            <a:ext cx="32669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TTFT p50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524500" y="4306342"/>
            <a:ext cx="32669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6% vs last q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277350" y="2877592"/>
            <a:ext cx="3800475" cy="2019300"/>
          </a:xfrm>
          <a:prstGeom prst="roundRect">
            <a:avLst>
              <a:gd name="adj" fmla="val 660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91675" y="3191917"/>
            <a:ext cx="32669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71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591675" y="3934867"/>
            <a:ext cx="32669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utilization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91675" y="4306342"/>
            <a:ext cx="32669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6B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headroom shrinking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44525" y="2877592"/>
            <a:ext cx="3800475" cy="2019300"/>
          </a:xfrm>
          <a:prstGeom prst="roundRect">
            <a:avLst>
              <a:gd name="adj" fmla="val 660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658850" y="3191917"/>
            <a:ext cx="32669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$1.2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3658850" y="3934867"/>
            <a:ext cx="32669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quarterly spend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658850" y="4306342"/>
            <a:ext cx="32669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14% vs last q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587996" y="5506492"/>
            <a:ext cx="233749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Reliability is solid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4020741" y="5535067"/>
            <a:ext cx="9532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we held SLO across three regions with no Sev-1 incidents this quarter.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587996" y="6130379"/>
            <a:ext cx="259571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Capacity is the risk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4278957" y="6158954"/>
            <a:ext cx="106507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utilization is trending toward saturation; we propose a Phase-1 pool expansion.</a:t>
            </a:r>
            <a:endParaRPr lang="en-US" sz="22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3974961" y="9453563"/>
            <a:ext cx="22136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Executive summary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23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29668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AT A GLANCE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192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 inference route, four stages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687092"/>
            <a:ext cx="16002000" cy="1990725"/>
          </a:xfrm>
          <a:prstGeom prst="roundRect">
            <a:avLst>
              <a:gd name="adj" fmla="val 6699"/>
            </a:avLst>
          </a:prstGeom>
          <a:solidFill>
            <a:srgbClr val="090D14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98986" y="3720554"/>
            <a:ext cx="13090029" cy="19050"/>
          </a:xfrm>
          <a:prstGeom prst="rect">
            <a:avLst/>
          </a:prstGeom>
          <a:solidFill>
            <a:srgbClr val="53D0C5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0785" y="3663404"/>
            <a:ext cx="114300" cy="114300"/>
          </a:xfrm>
          <a:prstGeom prst="ellipse">
            <a:avLst/>
          </a:prstGeom>
          <a:solidFill>
            <a:srgbClr val="53D0C5"/>
          </a:solidFill>
          <a:ln/>
          <a:effectLst>
            <a:outerShdw sx="100000" sy="100000" kx="0" ky="0" algn="bl" rotWithShape="0" blurRad="152400" dist="50800" dir="16200000">
              <a:srgbClr val="53D0C5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33525" y="3115717"/>
            <a:ext cx="3676650" cy="1209675"/>
          </a:xfrm>
          <a:prstGeom prst="roundRect">
            <a:avLst>
              <a:gd name="adj" fmla="val 787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4780" y="3372892"/>
            <a:ext cx="34141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edge-ingress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664780" y="3791992"/>
            <a:ext cx="34141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kr · 2.1ms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381625" y="3115717"/>
            <a:ext cx="3676650" cy="1209675"/>
          </a:xfrm>
          <a:prstGeom prst="roundRect">
            <a:avLst>
              <a:gd name="adj" fmla="val 787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12879" y="3372892"/>
            <a:ext cx="34141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fabric-router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12879" y="3791992"/>
            <a:ext cx="34141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400G · ecn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229725" y="3115717"/>
            <a:ext cx="3676650" cy="1209675"/>
          </a:xfrm>
          <a:prstGeom prst="roundRect">
            <a:avLst>
              <a:gd name="adj" fmla="val 787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0980" y="3372892"/>
            <a:ext cx="34141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gpu-pool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360980" y="3791992"/>
            <a:ext cx="34141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b200 ×8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077825" y="3115717"/>
            <a:ext cx="3676650" cy="1209675"/>
          </a:xfrm>
          <a:prstGeom prst="roundRect">
            <a:avLst>
              <a:gd name="adj" fmla="val 787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09080" y="3372892"/>
            <a:ext cx="34141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token-stream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209080" y="3791992"/>
            <a:ext cx="34141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sse · live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143000" y="5135017"/>
            <a:ext cx="5156150" cy="1905000"/>
          </a:xfrm>
          <a:prstGeom prst="roundRect">
            <a:avLst>
              <a:gd name="adj" fmla="val 9000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5425" y="5487442"/>
            <a:ext cx="45848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5425" y="5916067"/>
            <a:ext cx="458483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regions · 6 pools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495425" y="6392317"/>
            <a:ext cx="45848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GPUs serving production traffic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565850" y="5135017"/>
            <a:ext cx="5156150" cy="1905000"/>
          </a:xfrm>
          <a:prstGeom prst="roundRect">
            <a:avLst>
              <a:gd name="adj" fmla="val 9000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8275" y="5487442"/>
            <a:ext cx="45848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workload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18275" y="5916067"/>
            <a:ext cx="458483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dual-encoder + VLM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6918275" y="6392317"/>
            <a:ext cx="45848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1.2k rps peak, streaming tokens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988701" y="5135017"/>
            <a:ext cx="5156150" cy="1905000"/>
          </a:xfrm>
          <a:prstGeom prst="roundRect">
            <a:avLst>
              <a:gd name="adj" fmla="val 9000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1126" y="5487442"/>
            <a:ext cx="45848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uptime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41126" y="5916067"/>
            <a:ext cx="458483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142d 06h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2341126" y="6392317"/>
            <a:ext cx="45848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since last route reschedule</a:t>
            </a:r>
            <a:endParaRPr lang="en-US" sz="19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13849201" y="9453563"/>
            <a:ext cx="23394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at a glance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23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32965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CURRENT ARCHITECTURE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192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serving stack, top to bottom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687092"/>
            <a:ext cx="16002000" cy="1047750"/>
          </a:xfrm>
          <a:prstGeom prst="roundRect">
            <a:avLst>
              <a:gd name="adj" fmla="val 12727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7325" y="2944267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82033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0" y="3068092"/>
            <a:ext cx="285750" cy="285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19325" y="3039517"/>
            <a:ext cx="20379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Edge &amp; ingress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600129" y="3072854"/>
            <a:ext cx="34794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TLS termination · regional routing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698986" y="3072854"/>
            <a:ext cx="12078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2.1ms p50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143000" y="3887242"/>
            <a:ext cx="16002000" cy="1047750"/>
          </a:xfrm>
          <a:prstGeom prst="roundRect">
            <a:avLst>
              <a:gd name="adj" fmla="val 12727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57325" y="4144417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82033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4268242"/>
            <a:ext cx="285750" cy="285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19325" y="4239667"/>
            <a:ext cx="230490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Fabric &amp; network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4867126" y="4273004"/>
            <a:ext cx="30352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cilium · sr-iov · multus · 400G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6453396" y="4273004"/>
            <a:ext cx="4534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ecn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1143000" y="5087392"/>
            <a:ext cx="16002000" cy="1047750"/>
          </a:xfrm>
          <a:prstGeom prst="roundRect">
            <a:avLst>
              <a:gd name="adj" fmla="val 12727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457325" y="5344567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82033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5468392"/>
            <a:ext cx="285750" cy="2857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19325" y="5439817"/>
            <a:ext cx="14522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pools</a:t>
            </a:r>
            <a:endParaRPr lang="en-US" sz="2250" dirty="0"/>
          </a:p>
        </p:txBody>
      </p:sp>
      <p:sp>
        <p:nvSpPr>
          <p:cNvPr id="21" name="Text 16"/>
          <p:cNvSpPr/>
          <p:nvPr/>
        </p:nvSpPr>
        <p:spPr>
          <a:xfrm>
            <a:off x="4014490" y="5473154"/>
            <a:ext cx="32111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nvidia b200 ×8 · rail-optimized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5196096" y="5473154"/>
            <a:ext cx="1710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8/8 scheduled</a:t>
            </a:r>
            <a:endParaRPr lang="en-US" sz="1650" dirty="0"/>
          </a:p>
        </p:txBody>
      </p:sp>
      <p:sp>
        <p:nvSpPr>
          <p:cNvPr id="23" name="Shape 18"/>
          <p:cNvSpPr/>
          <p:nvPr/>
        </p:nvSpPr>
        <p:spPr>
          <a:xfrm>
            <a:off x="1143000" y="6287542"/>
            <a:ext cx="16002000" cy="1047750"/>
          </a:xfrm>
          <a:prstGeom prst="roundRect">
            <a:avLst>
              <a:gd name="adj" fmla="val 12727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457325" y="6544717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82033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6668542"/>
            <a:ext cx="285750" cy="2857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219325" y="6639967"/>
            <a:ext cx="19539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 serving</a:t>
            </a:r>
            <a:endParaRPr lang="en-US" sz="2250" dirty="0"/>
          </a:p>
        </p:txBody>
      </p:sp>
      <p:sp>
        <p:nvSpPr>
          <p:cNvPr id="27" name="Text 21"/>
          <p:cNvSpPr/>
          <p:nvPr/>
        </p:nvSpPr>
        <p:spPr>
          <a:xfrm>
            <a:off x="4516189" y="6673304"/>
            <a:ext cx="45687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paged kv-cache · fp8 · continuous batching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15698986" y="6673304"/>
            <a:ext cx="12078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126 tok/s</a:t>
            </a:r>
            <a:endParaRPr lang="en-US" sz="1650" dirty="0"/>
          </a:p>
        </p:txBody>
      </p:sp>
      <p:sp>
        <p:nvSpPr>
          <p:cNvPr id="29" name="Shape 23"/>
          <p:cNvSpPr/>
          <p:nvPr/>
        </p:nvSpPr>
        <p:spPr>
          <a:xfrm>
            <a:off x="1143000" y="7487692"/>
            <a:ext cx="16002000" cy="1047750"/>
          </a:xfrm>
          <a:prstGeom prst="roundRect">
            <a:avLst>
              <a:gd name="adj" fmla="val 12727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457325" y="7744867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182033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7868692"/>
            <a:ext cx="285750" cy="2857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219325" y="7840117"/>
            <a:ext cx="24318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Storage &amp; vectors</a:t>
            </a:r>
            <a:endParaRPr lang="en-US" sz="2250" dirty="0"/>
          </a:p>
        </p:txBody>
      </p:sp>
      <p:sp>
        <p:nvSpPr>
          <p:cNvPr id="33" name="Text 26"/>
          <p:cNvSpPr/>
          <p:nvPr/>
        </p:nvSpPr>
        <p:spPr>
          <a:xfrm>
            <a:off x="4994077" y="7873454"/>
            <a:ext cx="44290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object-native training plane · vector ingest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15950505" y="7873454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 · kr</a:t>
            </a:r>
            <a:endParaRPr lang="en-US" sz="16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37" name="Text 29"/>
          <p:cNvSpPr/>
          <p:nvPr/>
        </p:nvSpPr>
        <p:spPr>
          <a:xfrm>
            <a:off x="13597682" y="9453563"/>
            <a:ext cx="25909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Current architecture</a:t>
            </a:r>
            <a:endParaRPr lang="en-US" sz="1650" dirty="0"/>
          </a:p>
        </p:txBody>
      </p:sp>
      <p:sp>
        <p:nvSpPr>
          <p:cNvPr id="38" name="Text 30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23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649861"/>
            <a:ext cx="1648206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15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4345186"/>
            <a:ext cx="16482060" cy="1320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900" b="1" spc="-262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143000" y="5913239"/>
            <a:ext cx="935087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the fabric behaves under load — latency, throughput, and where headroom is going.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23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34613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PERFORMANCE · LATENCY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4112180" y="1133475"/>
            <a:ext cx="190500" cy="38100"/>
          </a:xfrm>
          <a:prstGeom prst="roundRect">
            <a:avLst>
              <a:gd name="adj" fmla="val 50000"/>
            </a:avLst>
          </a:prstGeom>
          <a:solidFill>
            <a:srgbClr val="6E8BFF"/>
          </a:solidFill>
          <a:ln/>
        </p:spPr>
      </p:sp>
      <p:sp>
        <p:nvSpPr>
          <p:cNvPr id="5" name="Text 3"/>
          <p:cNvSpPr/>
          <p:nvPr/>
        </p:nvSpPr>
        <p:spPr>
          <a:xfrm>
            <a:off x="14397930" y="1004887"/>
            <a:ext cx="117351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TTFT p50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761940" y="1133475"/>
            <a:ext cx="190500" cy="38100"/>
          </a:xfrm>
          <a:prstGeom prst="roundRect">
            <a:avLst>
              <a:gd name="adj" fmla="val 50000"/>
            </a:avLst>
          </a:prstGeom>
          <a:solidFill>
            <a:srgbClr val="8B6DFF"/>
          </a:solidFill>
          <a:ln/>
        </p:spPr>
      </p:sp>
      <p:sp>
        <p:nvSpPr>
          <p:cNvPr id="7" name="Text 5"/>
          <p:cNvSpPr/>
          <p:nvPr/>
        </p:nvSpPr>
        <p:spPr>
          <a:xfrm>
            <a:off x="16047690" y="1004887"/>
            <a:ext cx="117351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TTFT p95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471613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Time-to-first-token, last 12 hours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143000" y="2663279"/>
            <a:ext cx="16002000" cy="6790730"/>
          </a:xfrm>
          <a:prstGeom prst="roundRect">
            <a:avLst>
              <a:gd name="adj" fmla="val 2525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" y="3091904"/>
            <a:ext cx="15220950" cy="5933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9796909"/>
            <a:ext cx="69389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p50 holds at 38ms </a:t>
            </a:r>
            <a:pPr algn="l" indent="0" marL="0">
              <a:buNone/>
            </a:pPr>
            <a:r>
              <a:rPr lang="en-US" sz="210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comfortably inside the 60ms target.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489454" y="9796909"/>
            <a:ext cx="891521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p95 spikes during bursts </a:t>
            </a:r>
            <a:pPr algn="l" indent="0" marL="0">
              <a:buNone/>
            </a:pPr>
            <a:r>
              <a:rPr lang="en-US" sz="210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driven by kv-cache pressure, not the network.</a:t>
            </a:r>
            <a:endParaRPr lang="en-US" sz="2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3472071" y="9453563"/>
            <a:ext cx="27195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Performance · latency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23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39557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PERFORMANCE · THROUGHPUT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192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Sustained throughput by GPU pool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610892"/>
            <a:ext cx="16002000" cy="6790730"/>
          </a:xfrm>
          <a:prstGeom prst="roundRect">
            <a:avLst>
              <a:gd name="adj" fmla="val 2525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" y="3039517"/>
            <a:ext cx="15220950" cy="5933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7996" y="9782621"/>
            <a:ext cx="221441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B200 pools lead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897660" y="9811196"/>
            <a:ext cx="92642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 126 tok/s — the L40 pool is a long tail we should retire or repurpose.</a:t>
            </a:r>
            <a:endParaRPr lang="en-US" sz="2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094791" y="9453563"/>
            <a:ext cx="31081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Performance · throughput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23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36261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PERFORMANCE · CAPACITY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192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Utilization is climbing across every dimension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763292"/>
            <a:ext cx="3800475" cy="2409825"/>
          </a:xfrm>
          <a:prstGeom prst="roundRect">
            <a:avLst>
              <a:gd name="adj" fmla="val 553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7325" y="3077617"/>
            <a:ext cx="32669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71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457325" y="3820567"/>
            <a:ext cx="32669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utilization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210175" y="2763292"/>
            <a:ext cx="3800475" cy="2409825"/>
          </a:xfrm>
          <a:prstGeom prst="roundRect">
            <a:avLst>
              <a:gd name="adj" fmla="val 553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24500" y="3077617"/>
            <a:ext cx="32669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74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524500" y="3820567"/>
            <a:ext cx="32669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kv-cache occupancy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77350" y="2763292"/>
            <a:ext cx="3800475" cy="2409825"/>
          </a:xfrm>
          <a:prstGeom prst="roundRect">
            <a:avLst>
              <a:gd name="adj" fmla="val 553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1675" y="3077617"/>
            <a:ext cx="32669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62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591675" y="3820567"/>
            <a:ext cx="32669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fabric bandwidth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344525" y="2763292"/>
            <a:ext cx="3800475" cy="2409825"/>
          </a:xfrm>
          <a:prstGeom prst="roundRect">
            <a:avLst>
              <a:gd name="adj" fmla="val 553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58850" y="3077617"/>
            <a:ext cx="32669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3658850" y="3820567"/>
            <a:ext cx="32669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peak queue depth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5706517"/>
            <a:ext cx="16002000" cy="1428750"/>
          </a:xfrm>
          <a:prstGeom prst="roundRect">
            <a:avLst>
              <a:gd name="adj" fmla="val 12000"/>
            </a:avLst>
          </a:prstGeom>
          <a:solidFill>
            <a:srgbClr val="0D111A"/>
          </a:solidFill>
          <a:ln w="9525">
            <a:solidFill>
              <a:srgbClr val="3340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95425" y="6058942"/>
            <a:ext cx="2253109" cy="72390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/>
        </p:spPr>
      </p:sp>
      <p:sp>
        <p:nvSpPr>
          <p:cNvPr id="19" name="Shape 17"/>
          <p:cNvSpPr/>
          <p:nvPr/>
        </p:nvSpPr>
        <p:spPr>
          <a:xfrm>
            <a:off x="1676400" y="6378029"/>
            <a:ext cx="83344" cy="85725"/>
          </a:xfrm>
          <a:prstGeom prst="ellipse">
            <a:avLst/>
          </a:prstGeom>
          <a:solidFill>
            <a:srgbClr val="F5B756"/>
          </a:solidFill>
          <a:ln/>
        </p:spPr>
      </p:sp>
      <p:sp>
        <p:nvSpPr>
          <p:cNvPr id="20" name="Text 18"/>
          <p:cNvSpPr/>
          <p:nvPr/>
        </p:nvSpPr>
        <p:spPr>
          <a:xfrm>
            <a:off x="1854994" y="6144667"/>
            <a:ext cx="108212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B7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capacity watch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977134" y="6077992"/>
            <a:ext cx="1319990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 current growth, kv-cache occupancy crosses 85% in </a:t>
            </a:r>
            <a:pPr algn="l" indent="0" marL="0"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~7 weeks </a:t>
            </a:r>
            <a:pPr algn="l" indent="0" marL="0"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the trigger for Phase-1 expansion.</a:t>
            </a:r>
            <a:endParaRPr lang="en-US" sz="22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3346311" y="9453563"/>
            <a:ext cx="284910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Performance · capacity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23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649861"/>
            <a:ext cx="1648206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15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4345186"/>
            <a:ext cx="16482060" cy="1320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900" b="1" spc="-262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143000" y="5913239"/>
            <a:ext cx="935087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route, the fabric, and the serving stack — and why each decision was made.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23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32965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· ROUTE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192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inference route, with latency budgets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687092"/>
            <a:ext cx="16002000" cy="2219325"/>
          </a:xfrm>
          <a:prstGeom prst="roundRect">
            <a:avLst>
              <a:gd name="adj" fmla="val 6009"/>
            </a:avLst>
          </a:prstGeom>
          <a:solidFill>
            <a:srgbClr val="090D14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64470" y="3834854"/>
            <a:ext cx="12959060" cy="19050"/>
          </a:xfrm>
          <a:prstGeom prst="rect">
            <a:avLst/>
          </a:prstGeom>
          <a:solidFill>
            <a:srgbClr val="53D0C5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04984" y="3777704"/>
            <a:ext cx="114300" cy="114300"/>
          </a:xfrm>
          <a:prstGeom prst="ellipse">
            <a:avLst/>
          </a:prstGeom>
          <a:solidFill>
            <a:srgbClr val="53D0C5"/>
          </a:solidFill>
          <a:ln/>
          <a:effectLst>
            <a:outerShdw sx="100000" sy="100000" kx="0" ky="0" algn="bl" rotWithShape="0" blurRad="152400" dist="50800" dir="16200000">
              <a:srgbClr val="53D0C5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09725" y="3230017"/>
            <a:ext cx="3638550" cy="1209675"/>
          </a:xfrm>
          <a:prstGeom prst="roundRect">
            <a:avLst>
              <a:gd name="adj" fmla="val 787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41551" y="3487192"/>
            <a:ext cx="33748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edge-ingress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741551" y="3906292"/>
            <a:ext cx="33748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budget 3ms · act 2.1ms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419725" y="3230017"/>
            <a:ext cx="3638550" cy="1209675"/>
          </a:xfrm>
          <a:prstGeom prst="roundRect">
            <a:avLst>
              <a:gd name="adj" fmla="val 787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1551" y="3487192"/>
            <a:ext cx="33748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fabric-router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51551" y="3906292"/>
            <a:ext cx="33748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budget 1ms · ecn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229725" y="3230017"/>
            <a:ext cx="3638550" cy="1209675"/>
          </a:xfrm>
          <a:prstGeom prst="roundRect">
            <a:avLst>
              <a:gd name="adj" fmla="val 787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1551" y="3487192"/>
            <a:ext cx="33748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gpu-pool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361551" y="3906292"/>
            <a:ext cx="33748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schedule · b200 ×8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039725" y="3230017"/>
            <a:ext cx="3638550" cy="1209675"/>
          </a:xfrm>
          <a:prstGeom prst="roundRect">
            <a:avLst>
              <a:gd name="adj" fmla="val 787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171551" y="3487192"/>
            <a:ext cx="33748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token-stream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171551" y="3906292"/>
            <a:ext cx="33748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 token 38ms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143000" y="5363617"/>
            <a:ext cx="5156150" cy="1666875"/>
          </a:xfrm>
          <a:prstGeom prst="roundRect">
            <a:avLst>
              <a:gd name="adj" fmla="val 8000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7325" y="5677942"/>
            <a:ext cx="466332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ms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457325" y="6420892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end-to-end TTFT p50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6565850" y="5363617"/>
            <a:ext cx="5156150" cy="1666875"/>
          </a:xfrm>
          <a:prstGeom prst="roundRect">
            <a:avLst>
              <a:gd name="adj" fmla="val 8000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0175" y="5677942"/>
            <a:ext cx="466332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126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tok/s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6880175" y="6420892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streaming throughput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988701" y="5363617"/>
            <a:ext cx="5156150" cy="1666875"/>
          </a:xfrm>
          <a:prstGeom prst="roundRect">
            <a:avLst>
              <a:gd name="adj" fmla="val 8000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03026" y="5677942"/>
            <a:ext cx="466332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142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12303026" y="6420892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route stability</a:t>
            </a:r>
            <a:endParaRPr lang="en-US" sz="19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597682" y="9453563"/>
            <a:ext cx="25909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· route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23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34613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· FABRIC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192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network is part of the execution graph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3053804"/>
            <a:ext cx="2557611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610892"/>
            <a:ext cx="21771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30" kern="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700611" y="3053804"/>
            <a:ext cx="5310039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8" name="Text 6"/>
          <p:cNvSpPr/>
          <p:nvPr/>
        </p:nvSpPr>
        <p:spPr>
          <a:xfrm>
            <a:off x="3929211" y="2610892"/>
            <a:ext cx="50121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30" kern="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CONFIGURATION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3815804"/>
            <a:ext cx="2557611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272879"/>
            <a:ext cx="2177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Cluster fabric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3700611" y="3815804"/>
            <a:ext cx="5310039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3929211" y="3272879"/>
            <a:ext cx="5012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cilium · sr-iov · multus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4577804"/>
            <a:ext cx="2557611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034879"/>
            <a:ext cx="2177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Bandwidth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3700611" y="4577804"/>
            <a:ext cx="5310039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3929211" y="4034879"/>
            <a:ext cx="5012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 Gbps · rail-optimized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5339804"/>
            <a:ext cx="2557611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796879"/>
            <a:ext cx="2177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Congestion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3700611" y="5339804"/>
            <a:ext cx="5310039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0" name="Text 18"/>
          <p:cNvSpPr/>
          <p:nvPr/>
        </p:nvSpPr>
        <p:spPr>
          <a:xfrm>
            <a:off x="3929211" y="4796879"/>
            <a:ext cx="5012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ecn · credit-flow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43000" y="6101804"/>
            <a:ext cx="2557611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5558879"/>
            <a:ext cx="2177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Overlay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3700611" y="6101804"/>
            <a:ext cx="5310039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4" name="Text 22"/>
          <p:cNvSpPr/>
          <p:nvPr/>
        </p:nvSpPr>
        <p:spPr>
          <a:xfrm>
            <a:off x="3929211" y="5558879"/>
            <a:ext cx="5012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headscale · 4 namespaces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371600" y="6320879"/>
            <a:ext cx="21771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Region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3929211" y="6320879"/>
            <a:ext cx="50121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gcp asia-northeast3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277350" y="2610892"/>
            <a:ext cx="7867650" cy="3562201"/>
          </a:xfrm>
          <a:prstGeom prst="roundRect">
            <a:avLst>
              <a:gd name="adj" fmla="val 3743"/>
            </a:avLst>
          </a:prstGeom>
          <a:solidFill>
            <a:srgbClr val="090D14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86875" y="3315742"/>
            <a:ext cx="7848600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9" name="Shape 27"/>
          <p:cNvSpPr/>
          <p:nvPr/>
        </p:nvSpPr>
        <p:spPr>
          <a:xfrm>
            <a:off x="9553575" y="2896642"/>
            <a:ext cx="142875" cy="142875"/>
          </a:xfrm>
          <a:prstGeom prst="ellipse">
            <a:avLst/>
          </a:prstGeom>
          <a:solidFill>
            <a:srgbClr val="33405A"/>
          </a:solidFill>
          <a:ln/>
        </p:spPr>
      </p:sp>
      <p:sp>
        <p:nvSpPr>
          <p:cNvPr id="30" name="Shape 28"/>
          <p:cNvSpPr/>
          <p:nvPr/>
        </p:nvSpPr>
        <p:spPr>
          <a:xfrm>
            <a:off x="9810750" y="2896642"/>
            <a:ext cx="142875" cy="142875"/>
          </a:xfrm>
          <a:prstGeom prst="ellipse">
            <a:avLst/>
          </a:prstGeom>
          <a:solidFill>
            <a:srgbClr val="3340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67925" y="2896642"/>
            <a:ext cx="142875" cy="142875"/>
          </a:xfrm>
          <a:prstGeom prst="ellipse">
            <a:avLst/>
          </a:prstGeom>
          <a:solidFill>
            <a:srgbClr val="33405A"/>
          </a:solidFill>
          <a:ln/>
        </p:spPr>
      </p:sp>
      <p:sp>
        <p:nvSpPr>
          <p:cNvPr id="32" name="Text 30"/>
          <p:cNvSpPr/>
          <p:nvPr/>
        </p:nvSpPr>
        <p:spPr>
          <a:xfrm>
            <a:off x="10439400" y="2829967"/>
            <a:ext cx="29786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fabric@control-plane: ~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629775" y="3630067"/>
            <a:ext cx="7398258" cy="2266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fabric route inspect inference-edge </a:t>
            </a:r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resolving topology across 3 namespaces… </a:t>
            </a:r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ingress.kr </a:t>
            </a:r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healthy </a:t>
            </a:r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p50 2.1ms router.fabric </a:t>
            </a:r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healthy </a:t>
            </a:r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credit-fc nominal pool.gpu-b200 </a:t>
            </a:r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healthy </a:t>
            </a:r>
            <a:pPr algn="l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8/8 scheduled</a:t>
            </a:r>
            <a:endParaRPr lang="en-US" sz="19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3472071" y="9453563"/>
            <a:ext cx="27195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· fabric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23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41206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· TRADE-OFFS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192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Every choice bought something, and cost something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687092"/>
            <a:ext cx="7810500" cy="3343275"/>
          </a:xfrm>
          <a:prstGeom prst="roundRect">
            <a:avLst>
              <a:gd name="adj" fmla="val 5128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5425" y="3039517"/>
            <a:ext cx="7318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we gained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40421" y="3630067"/>
            <a:ext cx="3342706" cy="795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Rail-optimized placement cut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646390" y="3601492"/>
            <a:ext cx="27919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all-reduce tail latency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528447" y="3630067"/>
            <a:ext cx="1488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940421" y="4668292"/>
            <a:ext cx="3029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Paged kv-cache raised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053310" y="4639717"/>
            <a:ext cx="266913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effective batch size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816155" y="4668292"/>
            <a:ext cx="1488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940421" y="5292179"/>
            <a:ext cx="24885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ECN keeps queues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524226" y="5263604"/>
            <a:ext cx="256014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shallow under load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179618" y="5292179"/>
            <a:ext cx="1488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0" y="2687092"/>
            <a:ext cx="7810500" cy="3343275"/>
          </a:xfrm>
          <a:prstGeom prst="roundRect">
            <a:avLst>
              <a:gd name="adj" fmla="val 5128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86925" y="3039517"/>
            <a:ext cx="7318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B7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cost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131921" y="3630067"/>
            <a:ext cx="40043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 scheduler freedom under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4191059" y="3601492"/>
            <a:ext cx="195351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fragmentation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6239827" y="3630067"/>
            <a:ext cx="1488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131921" y="4253954"/>
            <a:ext cx="3210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Indirection added on the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420725" y="4225379"/>
            <a:ext cx="118318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hot path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4699159" y="4253954"/>
            <a:ext cx="1488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131921" y="4877842"/>
            <a:ext cx="14796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Occasional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706820" y="4849267"/>
            <a:ext cx="219595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 dips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3998029" y="4877842"/>
            <a:ext cx="1838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during bursts.</a:t>
            </a:r>
            <a:endParaRPr lang="en-US" sz="22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2969032" y="9453563"/>
            <a:ext cx="32377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· trade-offs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23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649861"/>
            <a:ext cx="1648206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15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4345186"/>
            <a:ext cx="16482060" cy="1320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900" b="1" spc="-262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Reliability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143000" y="5913239"/>
            <a:ext cx="935087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SLOs, the error budget, and the way this system actually fails — quietly, at the edges.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23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23925"/>
            <a:ext cx="29668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RELIABILITY · SLOS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4967496" y="914400"/>
            <a:ext cx="2177504" cy="447675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/>
        </p:spPr>
      </p:sp>
      <p:sp>
        <p:nvSpPr>
          <p:cNvPr id="5" name="Shape 3"/>
          <p:cNvSpPr/>
          <p:nvPr/>
        </p:nvSpPr>
        <p:spPr>
          <a:xfrm>
            <a:off x="15148471" y="1095375"/>
            <a:ext cx="85725" cy="85725"/>
          </a:xfrm>
          <a:prstGeom prst="ellipse">
            <a:avLst/>
          </a:prstGeom>
          <a:solidFill>
            <a:srgbClr val="3DDC97"/>
          </a:solidFill>
          <a:ln/>
          <a:effectLst>
            <a:outerShdw sx="100000" sy="100000" kx="0" ky="0" algn="bl" rotWithShape="0" blurRad="85725" dist="50800" dir="16200000">
              <a:srgbClr val="3DDC9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329446" y="1000125"/>
            <a:ext cx="171077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within budget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15335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 held every SLO this quarter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143000" y="2801392"/>
            <a:ext cx="5156150" cy="2019300"/>
          </a:xfrm>
          <a:prstGeom prst="roundRect">
            <a:avLst>
              <a:gd name="adj" fmla="val 660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7325" y="3115717"/>
            <a:ext cx="466332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99.95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457325" y="3858667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availability · target 99.9%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57325" y="4230142"/>
            <a:ext cx="46633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met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65850" y="2801392"/>
            <a:ext cx="5156150" cy="2019300"/>
          </a:xfrm>
          <a:prstGeom prst="roundRect">
            <a:avLst>
              <a:gd name="adj" fmla="val 660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0175" y="3115717"/>
            <a:ext cx="466332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ms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880175" y="3858667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TTFT p50 · target &lt;60ms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80175" y="4230142"/>
            <a:ext cx="46633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met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988701" y="2801392"/>
            <a:ext cx="5156150" cy="2019300"/>
          </a:xfrm>
          <a:prstGeom prst="roundRect">
            <a:avLst>
              <a:gd name="adj" fmla="val 660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03026" y="3115717"/>
            <a:ext cx="466332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63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2303026" y="3858667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 budget remaining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303026" y="4230142"/>
            <a:ext cx="46633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healthy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143000" y="5797004"/>
            <a:ext cx="6571655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5354092"/>
            <a:ext cx="631160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30" kern="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SLO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714655" y="5797004"/>
            <a:ext cx="3433018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7943255" y="5354092"/>
            <a:ext cx="307880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30" kern="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1147673" y="5797004"/>
            <a:ext cx="3092500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11376273" y="5354092"/>
            <a:ext cx="272807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30" kern="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ACTUAL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4240173" y="5797004"/>
            <a:ext cx="2904827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7" name="Text 25"/>
          <p:cNvSpPr/>
          <p:nvPr/>
        </p:nvSpPr>
        <p:spPr>
          <a:xfrm>
            <a:off x="14468773" y="5354092"/>
            <a:ext cx="253477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30" kern="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43000" y="6601867"/>
            <a:ext cx="6571655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6016079"/>
            <a:ext cx="631160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Route availability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7714655" y="6601867"/>
            <a:ext cx="3433018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7943255" y="6016079"/>
            <a:ext cx="3078809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99.9%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147673" y="6601867"/>
            <a:ext cx="3092500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33" name="Text 31"/>
          <p:cNvSpPr/>
          <p:nvPr/>
        </p:nvSpPr>
        <p:spPr>
          <a:xfrm>
            <a:off x="11376273" y="6016079"/>
            <a:ext cx="272807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99.95%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4240173" y="6601867"/>
            <a:ext cx="2904827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35" name="Shape 33"/>
          <p:cNvSpPr/>
          <p:nvPr/>
        </p:nvSpPr>
        <p:spPr>
          <a:xfrm>
            <a:off x="14468773" y="6035129"/>
            <a:ext cx="809625" cy="36195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/>
        </p:spPr>
      </p:sp>
      <p:sp>
        <p:nvSpPr>
          <p:cNvPr id="36" name="Shape 34"/>
          <p:cNvSpPr/>
          <p:nvPr/>
        </p:nvSpPr>
        <p:spPr>
          <a:xfrm>
            <a:off x="14611648" y="6173242"/>
            <a:ext cx="85725" cy="85725"/>
          </a:xfrm>
          <a:prstGeom prst="ellipse">
            <a:avLst/>
          </a:prstGeom>
          <a:solidFill>
            <a:srgbClr val="3DDC97"/>
          </a:solidFill>
          <a:ln/>
          <a:effectLst>
            <a:outerShdw sx="100000" sy="100000" kx="0" ky="0" algn="bl" rotWithShape="0" blurRad="85725" dist="50800" dir="16200000">
              <a:srgbClr val="3DDC97">
                <a:alpha val="10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792623" y="6092279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143000" y="7406729"/>
            <a:ext cx="6571655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600" y="6820942"/>
            <a:ext cx="631160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TTFT p95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7714655" y="7406729"/>
            <a:ext cx="3433018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41" name="Text 39"/>
          <p:cNvSpPr/>
          <p:nvPr/>
        </p:nvSpPr>
        <p:spPr>
          <a:xfrm>
            <a:off x="7943255" y="6820942"/>
            <a:ext cx="3078809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120ms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1147673" y="7406729"/>
            <a:ext cx="3092500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43" name="Text 41"/>
          <p:cNvSpPr/>
          <p:nvPr/>
        </p:nvSpPr>
        <p:spPr>
          <a:xfrm>
            <a:off x="11376273" y="6820942"/>
            <a:ext cx="272807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96ms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4240173" y="7406729"/>
            <a:ext cx="2904827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45" name="Shape 43"/>
          <p:cNvSpPr/>
          <p:nvPr/>
        </p:nvSpPr>
        <p:spPr>
          <a:xfrm>
            <a:off x="14468773" y="6839992"/>
            <a:ext cx="809625" cy="36195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/>
        </p:spPr>
      </p:sp>
      <p:sp>
        <p:nvSpPr>
          <p:cNvPr id="46" name="Shape 44"/>
          <p:cNvSpPr/>
          <p:nvPr/>
        </p:nvSpPr>
        <p:spPr>
          <a:xfrm>
            <a:off x="14611648" y="6978104"/>
            <a:ext cx="85725" cy="85725"/>
          </a:xfrm>
          <a:prstGeom prst="ellipse">
            <a:avLst/>
          </a:prstGeom>
          <a:solidFill>
            <a:srgbClr val="3DDC97"/>
          </a:solidFill>
          <a:ln/>
          <a:effectLst>
            <a:outerShdw sx="100000" sy="100000" kx="0" ky="0" algn="bl" rotWithShape="0" blurRad="85725" dist="50800" dir="16200000">
              <a:srgbClr val="3DDC97">
                <a:alpha val="10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4792623" y="6897142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371600" y="7625804"/>
            <a:ext cx="631160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Token stream uptime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7943255" y="7625804"/>
            <a:ext cx="30788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99.5%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1376273" y="7625804"/>
            <a:ext cx="27280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99.7%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14468773" y="7644854"/>
            <a:ext cx="809625" cy="36195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/>
        </p:spPr>
      </p:sp>
      <p:sp>
        <p:nvSpPr>
          <p:cNvPr id="52" name="Shape 50"/>
          <p:cNvSpPr/>
          <p:nvPr/>
        </p:nvSpPr>
        <p:spPr>
          <a:xfrm>
            <a:off x="14611648" y="7782967"/>
            <a:ext cx="85725" cy="85725"/>
          </a:xfrm>
          <a:prstGeom prst="ellipse">
            <a:avLst/>
          </a:prstGeom>
          <a:solidFill>
            <a:srgbClr val="3DDC97"/>
          </a:solidFill>
          <a:ln/>
          <a:effectLst>
            <a:outerShdw sx="100000" sy="100000" kx="0" ky="0" algn="bl" rotWithShape="0" blurRad="85725" dist="50800" dir="16200000">
              <a:srgbClr val="3DDC97">
                <a:alpha val="10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4792623" y="7702004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</a:t>
            </a:r>
            <a:endParaRPr lang="en-US" sz="1500" dirty="0"/>
          </a:p>
        </p:txBody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56" name="Text 53"/>
          <p:cNvSpPr/>
          <p:nvPr/>
        </p:nvSpPr>
        <p:spPr>
          <a:xfrm>
            <a:off x="13849201" y="9453563"/>
            <a:ext cx="23394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Reliability · SLOs</a:t>
            </a:r>
            <a:endParaRPr lang="en-US" sz="1650" dirty="0"/>
          </a:p>
        </p:txBody>
      </p:sp>
      <p:sp>
        <p:nvSpPr>
          <p:cNvPr id="57" name="Text 54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23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44502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RELIABILITY · FAILURE MODES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192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risk isn't a crash — it's silent backpressure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87996" y="2687092"/>
            <a:ext cx="188654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Silent backpressure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569791" y="2715667"/>
            <a:ext cx="523280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pool saturates, queue climbs, latency degrades while liveness still reads healthy.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87996" y="4139654"/>
            <a:ext cx="188327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kv-cache exhaustion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566517" y="4168229"/>
            <a:ext cx="4900930" cy="795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occupancy crosses 85%, evictions cascade onto the hot path.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87996" y="5177879"/>
            <a:ext cx="195336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 fragmentation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636615" y="5206454"/>
            <a:ext cx="4722650" cy="795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scheduler can't co-locate tensor-parallel ranks, collectives slow.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34500" y="2687092"/>
            <a:ext cx="7810500" cy="2915543"/>
          </a:xfrm>
          <a:prstGeom prst="roundRect">
            <a:avLst>
              <a:gd name="adj" fmla="val 5881"/>
            </a:avLst>
          </a:prstGeom>
          <a:solidFill>
            <a:srgbClr val="0D111A"/>
          </a:solidFill>
          <a:ln w="9525">
            <a:solidFill>
              <a:srgbClr val="334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86925" y="3039517"/>
            <a:ext cx="7318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mitigation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86925" y="3506242"/>
            <a:ext cx="731882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Alert on the </a:t>
            </a:r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53D0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slope</a:t>
            </a:r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not the threshold.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86925" y="4092922"/>
            <a:ext cx="731882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the time a threshold trips, the route has been degrading for minutes. We now page on rate-of-change of queue depth and TTFT.</a:t>
            </a:r>
            <a:endParaRPr lang="en-US" sz="202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2717661" y="9453563"/>
            <a:ext cx="34966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Reliability · failure modes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23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008709"/>
            <a:ext cx="1648206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15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3704034"/>
            <a:ext cx="16482060" cy="2602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900" b="1" spc="-262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 &amp; proposal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143000" y="6554391"/>
            <a:ext cx="935087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capacity plan, the cost model, and the decision we're asking for.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23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29668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· CAPACITY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3014871" y="1133475"/>
            <a:ext cx="190500" cy="38100"/>
          </a:xfrm>
          <a:prstGeom prst="roundRect">
            <a:avLst>
              <a:gd name="adj" fmla="val 50000"/>
            </a:avLst>
          </a:prstGeom>
          <a:solidFill>
            <a:srgbClr val="53D0C5"/>
          </a:solidFill>
          <a:ln/>
        </p:spPr>
      </p:sp>
      <p:sp>
        <p:nvSpPr>
          <p:cNvPr id="5" name="Text 3"/>
          <p:cNvSpPr/>
          <p:nvPr/>
        </p:nvSpPr>
        <p:spPr>
          <a:xfrm>
            <a:off x="13300621" y="1004887"/>
            <a:ext cx="117351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capacity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664630" y="1133475"/>
            <a:ext cx="190500" cy="38100"/>
          </a:xfrm>
          <a:prstGeom prst="roundRect">
            <a:avLst>
              <a:gd name="adj" fmla="val 50000"/>
            </a:avLst>
          </a:prstGeom>
          <a:solidFill>
            <a:srgbClr val="6E8BFF"/>
          </a:solidFill>
          <a:ln/>
        </p:spPr>
      </p:sp>
      <p:sp>
        <p:nvSpPr>
          <p:cNvPr id="7" name="Text 5"/>
          <p:cNvSpPr/>
          <p:nvPr/>
        </p:nvSpPr>
        <p:spPr>
          <a:xfrm>
            <a:off x="14950380" y="1004887"/>
            <a:ext cx="227082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projected demand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471613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Demand crosses capacity in Q3 without action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143000" y="2663279"/>
            <a:ext cx="16002000" cy="6790730"/>
          </a:xfrm>
          <a:prstGeom prst="roundRect">
            <a:avLst>
              <a:gd name="adj" fmla="val 2525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" y="3091904"/>
            <a:ext cx="15220950" cy="5933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87996" y="9796909"/>
            <a:ext cx="257591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Phase-1 expansion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4259163" y="9825484"/>
            <a:ext cx="118963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(+2 B200 pools) restores headroom through FY26 and is the recommendation that follows.</a:t>
            </a:r>
            <a:endParaRPr lang="en-US" sz="2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3849201" y="9453563"/>
            <a:ext cx="23394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· capacity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23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23165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· COST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192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Where the quarterly spend goes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955875"/>
            <a:ext cx="7734300" cy="3567708"/>
          </a:xfrm>
          <a:prstGeom prst="roundRect">
            <a:avLst>
              <a:gd name="adj" fmla="val 4806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" y="3384500"/>
            <a:ext cx="6953250" cy="27104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10700" y="3053804"/>
            <a:ext cx="3785295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8" name="Text 5"/>
          <p:cNvSpPr/>
          <p:nvPr/>
        </p:nvSpPr>
        <p:spPr>
          <a:xfrm>
            <a:off x="9639300" y="2610892"/>
            <a:ext cx="344165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30" kern="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3195995" y="3053804"/>
            <a:ext cx="2181523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10" name="Text 7"/>
          <p:cNvSpPr/>
          <p:nvPr/>
        </p:nvSpPr>
        <p:spPr>
          <a:xfrm>
            <a:off x="13424595" y="2610892"/>
            <a:ext cx="180052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30" kern="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QUARTER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5377517" y="3053804"/>
            <a:ext cx="1767483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12" name="Text 9"/>
          <p:cNvSpPr/>
          <p:nvPr/>
        </p:nvSpPr>
        <p:spPr>
          <a:xfrm>
            <a:off x="15606117" y="2610892"/>
            <a:ext cx="138648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spc="30" kern="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SHARE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9410700" y="3815804"/>
            <a:ext cx="3785295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14" name="Text 11"/>
          <p:cNvSpPr/>
          <p:nvPr/>
        </p:nvSpPr>
        <p:spPr>
          <a:xfrm>
            <a:off x="9639300" y="3272879"/>
            <a:ext cx="34416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compute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13195995" y="3815804"/>
            <a:ext cx="2181523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16" name="Text 13"/>
          <p:cNvSpPr/>
          <p:nvPr/>
        </p:nvSpPr>
        <p:spPr>
          <a:xfrm>
            <a:off x="13424595" y="3272879"/>
            <a:ext cx="18005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$720k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5377517" y="3815804"/>
            <a:ext cx="1767483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18" name="Text 15"/>
          <p:cNvSpPr/>
          <p:nvPr/>
        </p:nvSpPr>
        <p:spPr>
          <a:xfrm>
            <a:off x="15606117" y="3272879"/>
            <a:ext cx="13864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60%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9410700" y="4577804"/>
            <a:ext cx="3785295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0" name="Text 17"/>
          <p:cNvSpPr/>
          <p:nvPr/>
        </p:nvSpPr>
        <p:spPr>
          <a:xfrm>
            <a:off x="9639300" y="4034879"/>
            <a:ext cx="34416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 &amp; fabric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13195995" y="4577804"/>
            <a:ext cx="2181523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2" name="Text 19"/>
          <p:cNvSpPr/>
          <p:nvPr/>
        </p:nvSpPr>
        <p:spPr>
          <a:xfrm>
            <a:off x="13424595" y="4034879"/>
            <a:ext cx="18005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$180k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15377517" y="4577804"/>
            <a:ext cx="1767483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4" name="Text 21"/>
          <p:cNvSpPr/>
          <p:nvPr/>
        </p:nvSpPr>
        <p:spPr>
          <a:xfrm>
            <a:off x="15606117" y="4034879"/>
            <a:ext cx="13864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15%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9410700" y="5339804"/>
            <a:ext cx="3785295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6" name="Text 23"/>
          <p:cNvSpPr/>
          <p:nvPr/>
        </p:nvSpPr>
        <p:spPr>
          <a:xfrm>
            <a:off x="9639300" y="4796879"/>
            <a:ext cx="34416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Storage</a:t>
            </a:r>
            <a:endParaRPr lang="en-US" sz="1950" dirty="0"/>
          </a:p>
        </p:txBody>
      </p:sp>
      <p:sp>
        <p:nvSpPr>
          <p:cNvPr id="27" name="Shape 24"/>
          <p:cNvSpPr/>
          <p:nvPr/>
        </p:nvSpPr>
        <p:spPr>
          <a:xfrm>
            <a:off x="13195995" y="5339804"/>
            <a:ext cx="2181523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28" name="Text 25"/>
          <p:cNvSpPr/>
          <p:nvPr/>
        </p:nvSpPr>
        <p:spPr>
          <a:xfrm>
            <a:off x="13424595" y="4796879"/>
            <a:ext cx="18005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$132k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5377517" y="5339804"/>
            <a:ext cx="1767483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30" name="Text 27"/>
          <p:cNvSpPr/>
          <p:nvPr/>
        </p:nvSpPr>
        <p:spPr>
          <a:xfrm>
            <a:off x="15606117" y="4796879"/>
            <a:ext cx="13864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11%</a:t>
            </a:r>
            <a:endParaRPr lang="en-US" sz="1950" dirty="0"/>
          </a:p>
        </p:txBody>
      </p:sp>
      <p:sp>
        <p:nvSpPr>
          <p:cNvPr id="31" name="Shape 28"/>
          <p:cNvSpPr/>
          <p:nvPr/>
        </p:nvSpPr>
        <p:spPr>
          <a:xfrm>
            <a:off x="9410700" y="6101804"/>
            <a:ext cx="3785295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32" name="Text 29"/>
          <p:cNvSpPr/>
          <p:nvPr/>
        </p:nvSpPr>
        <p:spPr>
          <a:xfrm>
            <a:off x="9639300" y="5558879"/>
            <a:ext cx="34416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Egress</a:t>
            </a:r>
            <a:endParaRPr lang="en-US" sz="1950" dirty="0"/>
          </a:p>
        </p:txBody>
      </p:sp>
      <p:sp>
        <p:nvSpPr>
          <p:cNvPr id="33" name="Shape 30"/>
          <p:cNvSpPr/>
          <p:nvPr/>
        </p:nvSpPr>
        <p:spPr>
          <a:xfrm>
            <a:off x="13195995" y="6101804"/>
            <a:ext cx="2181523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34" name="Text 31"/>
          <p:cNvSpPr/>
          <p:nvPr/>
        </p:nvSpPr>
        <p:spPr>
          <a:xfrm>
            <a:off x="13424595" y="5558879"/>
            <a:ext cx="18005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$96k</a:t>
            </a:r>
            <a:endParaRPr lang="en-US" sz="1950" dirty="0"/>
          </a:p>
        </p:txBody>
      </p:sp>
      <p:sp>
        <p:nvSpPr>
          <p:cNvPr id="35" name="Shape 32"/>
          <p:cNvSpPr/>
          <p:nvPr/>
        </p:nvSpPr>
        <p:spPr>
          <a:xfrm>
            <a:off x="15377517" y="6101804"/>
            <a:ext cx="1767483" cy="9525"/>
          </a:xfrm>
          <a:prstGeom prst="rect">
            <a:avLst/>
          </a:prstGeom>
          <a:solidFill>
            <a:srgbClr val="222A3A"/>
          </a:solidFill>
          <a:ln/>
        </p:spPr>
      </p:sp>
      <p:sp>
        <p:nvSpPr>
          <p:cNvPr id="36" name="Text 33"/>
          <p:cNvSpPr/>
          <p:nvPr/>
        </p:nvSpPr>
        <p:spPr>
          <a:xfrm>
            <a:off x="15606117" y="5558879"/>
            <a:ext cx="13864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8%</a:t>
            </a:r>
            <a:endParaRPr lang="en-US" sz="1950" dirty="0"/>
          </a:p>
        </p:txBody>
      </p:sp>
      <p:sp>
        <p:nvSpPr>
          <p:cNvPr id="37" name="Text 34"/>
          <p:cNvSpPr/>
          <p:nvPr/>
        </p:nvSpPr>
        <p:spPr>
          <a:xfrm>
            <a:off x="9639300" y="6320879"/>
            <a:ext cx="344165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Ops</a:t>
            </a:r>
            <a:endParaRPr lang="en-US" sz="1950" dirty="0"/>
          </a:p>
        </p:txBody>
      </p:sp>
      <p:sp>
        <p:nvSpPr>
          <p:cNvPr id="38" name="Text 35"/>
          <p:cNvSpPr/>
          <p:nvPr/>
        </p:nvSpPr>
        <p:spPr>
          <a:xfrm>
            <a:off x="13424595" y="6320879"/>
            <a:ext cx="180052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$72k</a:t>
            </a:r>
            <a:endParaRPr lang="en-US" sz="1950" dirty="0"/>
          </a:p>
        </p:txBody>
      </p:sp>
      <p:sp>
        <p:nvSpPr>
          <p:cNvPr id="39" name="Text 36"/>
          <p:cNvSpPr/>
          <p:nvPr/>
        </p:nvSpPr>
        <p:spPr>
          <a:xfrm>
            <a:off x="15606117" y="6320879"/>
            <a:ext cx="138648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6%</a:t>
            </a:r>
            <a:endParaRPr lang="en-US" sz="195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42" name="Text 38"/>
          <p:cNvSpPr/>
          <p:nvPr/>
        </p:nvSpPr>
        <p:spPr>
          <a:xfrm>
            <a:off x="14352091" y="9453563"/>
            <a:ext cx="18365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· cost</a:t>
            </a:r>
            <a:endParaRPr lang="en-US" sz="1650" dirty="0"/>
          </a:p>
        </p:txBody>
      </p:sp>
      <p:sp>
        <p:nvSpPr>
          <p:cNvPr id="43" name="Text 39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23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29668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· DECISION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5902880" y="914400"/>
            <a:ext cx="1242120" cy="447675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9525">
            <a:solidFill>
              <a:srgbClr val="3340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83855" y="100012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2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ADR-014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15335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Recommendation: approve Phase-1 expansion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1143000" y="2725192"/>
            <a:ext cx="16002000" cy="4391025"/>
          </a:xfrm>
          <a:prstGeom prst="roundRect">
            <a:avLst>
              <a:gd name="adj" fmla="val 3905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9725" y="3191917"/>
            <a:ext cx="74856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9725" y="3639592"/>
            <a:ext cx="7485602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53D0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B200 pools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 asia-northeast3, retire the L40 pool, and move kv-cache to fp8 fleet-wide.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9725" y="4873972"/>
            <a:ext cx="74856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rationale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9700" y="5340697"/>
            <a:ext cx="7543800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Restores headroom through FY26.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Retiring L40 offsets ~30% of the new cost.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410700" y="3191917"/>
            <a:ext cx="74856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10700" y="3658642"/>
            <a:ext cx="3538538" cy="1400175"/>
          </a:xfrm>
          <a:prstGeom prst="roundRect">
            <a:avLst>
              <a:gd name="adj" fmla="val 952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67875" y="3915817"/>
            <a:ext cx="311491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+58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667875" y="4506367"/>
            <a:ext cx="31149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capacity headroom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139738" y="3658642"/>
            <a:ext cx="3538538" cy="1400175"/>
          </a:xfrm>
          <a:prstGeom prst="roundRect">
            <a:avLst>
              <a:gd name="adj" fmla="val 952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96913" y="3915817"/>
            <a:ext cx="311491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+$240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3396913" y="4506367"/>
            <a:ext cx="31149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 quarterly cost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410700" y="5249317"/>
            <a:ext cx="3538538" cy="1400175"/>
          </a:xfrm>
          <a:prstGeom prst="roundRect">
            <a:avLst>
              <a:gd name="adj" fmla="val 952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67875" y="5506492"/>
            <a:ext cx="311491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</a:t>
            </a:r>
            <a:pPr algn="l" indent="0" marL="0">
              <a:lnSpc>
                <a:spcPct val="100000"/>
              </a:lnSpc>
              <a:buNone/>
            </a:pPr>
            <a:r>
              <a:rPr lang="en-US" sz="2100" spc="-112" kern="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wk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667875" y="6097042"/>
            <a:ext cx="31149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 deploy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3139738" y="5249317"/>
            <a:ext cx="3538538" cy="1400175"/>
          </a:xfrm>
          <a:prstGeom prst="roundRect">
            <a:avLst>
              <a:gd name="adj" fmla="val 952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396913" y="5506492"/>
            <a:ext cx="311491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spc="-112" kern="0" dirty="0">
                <a:solidFill>
                  <a:srgbClr val="F4F7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3396913" y="6097042"/>
            <a:ext cx="31149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F8A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rollout risk</a:t>
            </a:r>
            <a:endParaRPr lang="en-US" sz="19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3849201" y="9453563"/>
            <a:ext cx="23394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· decision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23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32965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0" kern="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· NEXT STEPS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419225"/>
            <a:ext cx="1648206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120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happens after this review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143000" y="2687092"/>
            <a:ext cx="7810500" cy="3343275"/>
          </a:xfrm>
          <a:prstGeom prst="roundRect">
            <a:avLst>
              <a:gd name="adj" fmla="val 5128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5425" y="3039517"/>
            <a:ext cx="7318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40421" y="3601492"/>
            <a:ext cx="141773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week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53408" y="3630067"/>
            <a:ext cx="50712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approve ADR-014, reserve capacity.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40421" y="4225379"/>
            <a:ext cx="143128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Weeks 1–4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466951" y="4253954"/>
            <a:ext cx="3975193" cy="795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provision pools, validate rail placement.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940421" y="5263604"/>
            <a:ext cx="152876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Weeks 5–6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564434" y="5292179"/>
            <a:ext cx="50747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canary, then promote fp8 kv-cache.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34500" y="2687092"/>
            <a:ext cx="7810500" cy="2928938"/>
          </a:xfrm>
          <a:prstGeom prst="roundRect">
            <a:avLst>
              <a:gd name="adj" fmla="val 5854"/>
            </a:avLst>
          </a:prstGeom>
          <a:solidFill>
            <a:srgbClr val="0D111A"/>
          </a:solidFill>
          <a:ln w="9525">
            <a:solidFill>
              <a:srgbClr val="22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6925" y="3039517"/>
            <a:ext cx="7318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B7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risks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86900" y="3601492"/>
            <a:ext cx="7381875" cy="1700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B200 lead times could slip the timeline.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fp8 kv-cache needs a quality regression gate.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L40 retirement must not strand any tenant.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3597682" y="9453563"/>
            <a:ext cx="259094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· next steps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/ 23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7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177034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3D0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closing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739009"/>
            <a:ext cx="10827389" cy="1656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5400" b="1" spc="-135" kern="0" dirty="0">
                <a:solidFill>
                  <a:srgbClr val="F4F7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Invisible systems. </a:t>
            </a:r>
            <a:pPr algn="l" indent="0" marL="0">
              <a:lnSpc>
                <a:spcPct val="118000"/>
              </a:lnSpc>
              <a:buNone/>
            </a:pPr>
            <a:r>
              <a:rPr lang="en-US" sz="5400" b="1" spc="-135" kern="0" dirty="0">
                <a:solidFill>
                  <a:srgbClr val="53D0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Visible intelligence.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43000" y="5738366"/>
            <a:ext cx="860280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B8C2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platform is reliable today. Approve Phase-1 and it stays that way through FY26 — quietly, beneath everything we ship.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429750"/>
            <a:ext cx="323850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1150" y="9453563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QuietFabric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083082" y="9453563"/>
            <a:ext cx="51802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F5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platform-eng@quietfabric · #infra-review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264830" y="9453563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F8A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23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2026-05-30T15:24:16Z</dcterms:created>
  <dcterms:modified xsi:type="dcterms:W3CDTF">2026-05-30T15:24:16Z</dcterms:modified>
</cp:coreProperties>
</file>